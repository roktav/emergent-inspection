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Buka dengan tujuan: bukti foto dan jejak persetujuan, bukan pelatihan klik demi klik.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Janji waktu singkat. Jangan masuk ke konfigurasi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bukti dan jejak persetujuan, bukan pengganti keputusan mekanik di lapangan.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Mekanik memakai alur yang sama dengan driver. Admin site tetap melihat seluruh laporan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Tangkapan dari lingkungan pra-produksi. Jangan sebut kata sandi.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Jangan mulai mengisi item sebelum unit dan tipe dipilih.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Default OK mempercepat keliling unit. Foto tetap boleh pada item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GPS boleh tercatat tidak tersedia. Itu tidak membatalkan inspeksi.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Jangan menjanjikan draf sebagai arsip perusahaan.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Jangan menekan Setujui atau Tolak saat demo jika datanya milik operasi nyata.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PDF mengikuti domain tempat aplikasi dibuka. Jangan janji sunting PDF di dalam sistem.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Warna mengikuti keterangan di layar. Jangan menambah arti di luar itu.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Tiga pesan: exclude tipe, draf lokal, foto 90 hari.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19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49640" y="1417320"/>
            <a:ext cx="822960" cy="822960"/>
          </a:xfrm>
          <a:prstGeom prst="ellipse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74936" y="1417320"/>
            <a:ext cx="822960" cy="822960"/>
          </a:xfrm>
          <a:prstGeom prst="ellipse">
            <a:avLst/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00232" y="1417320"/>
            <a:ext cx="822960" cy="822960"/>
          </a:xfrm>
          <a:prstGeom prst="ellipse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2642616"/>
            <a:ext cx="822960" cy="822960"/>
          </a:xfrm>
          <a:prstGeom prst="ellipse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74936" y="2642616"/>
            <a:ext cx="822960" cy="822960"/>
          </a:xfrm>
          <a:prstGeom prst="ellipse">
            <a:avLst/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00232" y="2642616"/>
            <a:ext cx="822960" cy="822960"/>
          </a:xfrm>
          <a:prstGeom prst="ellipse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9640" y="3867912"/>
            <a:ext cx="822960" cy="822960"/>
          </a:xfrm>
          <a:prstGeom prst="ellipse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74936" y="3867912"/>
            <a:ext cx="822960" cy="822960"/>
          </a:xfrm>
          <a:prstGeom prst="ellipse">
            <a:avLst/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00232" y="3867912"/>
            <a:ext cx="822960" cy="822960"/>
          </a:xfrm>
          <a:prstGeom prst="ellipse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384048"/>
            <a:ext cx="3977639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40080"/>
            <a:ext cx="2243937" cy="7132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1965960"/>
            <a:ext cx="7680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6D2E9"/>
                </a:solidFill>
                <a:latin typeface="Poppins"/>
                <a:ea typeface="Poppins"/>
                <a:cs typeface="Poppins"/>
              </a:rPr>
              <a:t>PENGENALAN UNTUK PELANGGAN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304288"/>
            <a:ext cx="7863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Inspeksi 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10128"/>
            <a:ext cx="7863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98A7D5"/>
                </a:solidFill>
                <a:latin typeface="Poppins"/>
                <a:ea typeface="Poppins"/>
                <a:cs typeface="Poppins"/>
              </a:rPr>
              <a:t>Asset Inspection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6D2E9"/>
                </a:solidFill>
                <a:latin typeface="Roboto"/>
                <a:ea typeface="Roboto"/>
                <a:cs typeface="Roboto"/>
              </a:rPr>
              <a:t>Checklist walk-around digital untuk dump truck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224528"/>
            <a:ext cx="1508760" cy="3175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480560"/>
            <a:ext cx="7680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D6D2E9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6D2E9"/>
                </a:solidFill>
                <a:latin typeface="Roboto"/>
                <a:ea typeface="Roboto"/>
                <a:cs typeface="Roboto"/>
              </a:rPr>
              <a:t>15 Oktober 2026  ·  untuk pelanggan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Pengenalan  ·  Inspeksi 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2  /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Agenda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What we will cover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5349240" cy="1261872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27632"/>
            <a:ext cx="73152" cy="1261872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810512"/>
            <a:ext cx="640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8A7D5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92224"/>
            <a:ext cx="4251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Tujuan aplikasi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39696"/>
            <a:ext cx="4251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Checklist walk-around, foto bukti, persetujuan, dan rekap site.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1627632"/>
            <a:ext cx="5349240" cy="1261872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8192" y="1627632"/>
            <a:ext cx="73152" cy="1261872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810512"/>
            <a:ext cx="640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8A7D5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1792224"/>
            <a:ext cx="4251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Siapa yang memakai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2139696"/>
            <a:ext cx="4251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Driver, mekanik, admin site, admin perusahaan, dan superadmin.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044952"/>
            <a:ext cx="5349240" cy="1261872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044952"/>
            <a:ext cx="73152" cy="1261872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227832"/>
            <a:ext cx="640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8A7D5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209544"/>
            <a:ext cx="4251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Alur di lapangan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557016"/>
            <a:ext cx="4251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Pilih unit, isi checklist, foto, simpan draf, atau kirim.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08192" y="3044952"/>
            <a:ext cx="5349240" cy="1261872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08192" y="3044952"/>
            <a:ext cx="73152" cy="1261872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227832"/>
            <a:ext cx="640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8A7D5"/>
                </a:solidFill>
                <a:latin typeface="Poppins"/>
                <a:ea typeface="Poppins"/>
                <a:cs typeface="Poppin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3209544"/>
            <a:ext cx="4251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Persetujuan dan laporan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3557016"/>
            <a:ext cx="4251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Admin meninjau kiriman, mengekspor PDF, dan melihat rekap.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462272"/>
            <a:ext cx="10972800" cy="1261872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4462272"/>
            <a:ext cx="73152" cy="1261872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4645152"/>
            <a:ext cx="6400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8A7D5"/>
                </a:solidFill>
                <a:latin typeface="Poppins"/>
                <a:ea typeface="Poppins"/>
                <a:cs typeface="Poppin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626864"/>
            <a:ext cx="9875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Yang perlu diingat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974336"/>
            <a:ext cx="9875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Draf di perangkat, foto berbatas waktu, kiriman tidak disunting.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Pengenalan  ·  Inspeksi 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3  /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Apa itu Inspeksi Aset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A digital walk-around with evidence and approval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755648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Walk-around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514807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Checklist mengikuti kategori kendaraan, dikurangi item yang dikecualikan pada tipe inspeksi.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27632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755648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Foto bukti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048256"/>
            <a:ext cx="514807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Foto diambil di aplikasi. Waktu, lokasi, dan nama pemeriksa tertanam di berkas.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76472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904488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Persetujuan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197096"/>
            <a:ext cx="514807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Admin site meninjau kiriman: Setujui atau Tolak. Setelah kirim, isian tidak diubah.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776472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3904488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Rekap 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197096"/>
            <a:ext cx="514807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Matriks harian per unit: sudah diinspeksi, ada temuan, atau belum. Bisa diekspor.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Pengenalan  ·  Inspeksi 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4  /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Siapa yang memakai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Five roles, from the yard to the company office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27632"/>
          <a:ext cx="11173968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5029200"/>
                <a:gridCol w="3584448"/>
              </a:tblGrid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Peran</a:t>
                      </a:r>
                    </a:p>
                  </a:txBody>
                  <a:tcPr anchor="ctr" marL="128016" marR="109728" marT="73152" marB="73152">
                    <a:solidFill>
                      <a:srgbClr val="2319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Fokus</a:t>
                      </a:r>
                    </a:p>
                  </a:txBody>
                  <a:tcPr anchor="ctr" marL="128016" marR="109728" marT="73152" marB="73152">
                    <a:solidFill>
                      <a:srgbClr val="2319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</a:rPr>
                        <a:t>Tidak untuk</a:t>
                      </a:r>
                    </a:p>
                  </a:txBody>
                  <a:tcPr anchor="ctr" marL="128016" marR="109728" marT="73152" marB="73152">
                    <a:solidFill>
                      <a:srgbClr val="231915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1915"/>
                          </a:solidFill>
                          <a:latin typeface="Poppins"/>
                          <a:ea typeface="Poppins"/>
                          <a:cs typeface="Poppins"/>
                        </a:rPr>
                        <a:t>Driver / Mekanik</a:t>
                      </a:r>
                    </a:p>
                  </a:txBody>
                  <a:tcPr anchor="ctr" marL="128016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1915"/>
                          </a:solidFill>
                          <a:latin typeface="Roboto"/>
                          <a:ea typeface="Roboto"/>
                          <a:cs typeface="Roboto"/>
                        </a:rPr>
                        <a:t>Inspeksi baru, draf, dan inspeksi sendiri</a:t>
                      </a:r>
                    </a:p>
                  </a:txBody>
                  <a:tcPr anchor="ctr" marL="128016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1915"/>
                          </a:solidFill>
                          <a:latin typeface="Roboto"/>
                          <a:ea typeface="Roboto"/>
                          <a:cs typeface="Roboto"/>
                        </a:rPr>
                        <a:t>Master data, rekap, persetujuan</a:t>
                      </a:r>
                    </a:p>
                  </a:txBody>
                  <a:tcPr anchor="ctr" marL="128016" marR="109728" marT="73152" marB="73152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1915"/>
                          </a:solidFill>
                          <a:latin typeface="Poppins"/>
                          <a:ea typeface="Poppins"/>
                          <a:cs typeface="Poppins"/>
                        </a:rPr>
                        <a:t>Admin Site</a:t>
                      </a:r>
                    </a:p>
                  </a:txBody>
                  <a:tcPr anchor="ctr" marL="128016" marR="109728" marT="73152" marB="73152">
                    <a:solidFill>
                      <a:srgbClr val="D6D2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1915"/>
                          </a:solidFill>
                          <a:latin typeface="Roboto"/>
                          <a:ea typeface="Roboto"/>
                          <a:cs typeface="Roboto"/>
                        </a:rPr>
                        <a:t>Seluruh site, setujui atau tolak, pengguna site</a:t>
                      </a:r>
                    </a:p>
                  </a:txBody>
                  <a:tcPr anchor="ctr" marL="128016" marR="109728" marT="73152" marB="73152">
                    <a:solidFill>
                      <a:srgbClr val="D6D2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1915"/>
                          </a:solidFill>
                          <a:latin typeface="Roboto"/>
                          <a:ea typeface="Roboto"/>
                          <a:cs typeface="Roboto"/>
                        </a:rPr>
                        <a:t>Master checklist perusahaan</a:t>
                      </a:r>
                    </a:p>
                  </a:txBody>
                  <a:tcPr anchor="ctr" marL="128016" marR="109728" marT="73152" marB="73152">
                    <a:solidFill>
                      <a:srgbClr val="D6D2E9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1915"/>
                          </a:solidFill>
                          <a:latin typeface="Poppins"/>
                          <a:ea typeface="Poppins"/>
                          <a:cs typeface="Poppins"/>
                        </a:rPr>
                        <a:t>Admin Perusahaan</a:t>
                      </a:r>
                    </a:p>
                  </a:txBody>
                  <a:tcPr anchor="ctr" marL="128016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1915"/>
                          </a:solidFill>
                          <a:latin typeface="Roboto"/>
                          <a:ea typeface="Roboto"/>
                          <a:cs typeface="Roboto"/>
                        </a:rPr>
                        <a:t>Checklist, tipe, site, dan rekap perusahaan</a:t>
                      </a:r>
                    </a:p>
                  </a:txBody>
                  <a:tcPr anchor="ctr" marL="128016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1915"/>
                          </a:solidFill>
                          <a:latin typeface="Roboto"/>
                          <a:ea typeface="Roboto"/>
                          <a:cs typeface="Roboto"/>
                        </a:rPr>
                        <a:t>Akun superadmin</a:t>
                      </a:r>
                    </a:p>
                  </a:txBody>
                  <a:tcPr anchor="ctr" marL="128016" marR="109728" marT="73152" marB="73152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1915"/>
                          </a:solidFill>
                          <a:latin typeface="Poppins"/>
                          <a:ea typeface="Poppins"/>
                          <a:cs typeface="Poppins"/>
                        </a:rPr>
                        <a:t>Superadmin</a:t>
                      </a:r>
                    </a:p>
                  </a:txBody>
                  <a:tcPr anchor="ctr" marL="128016" marR="109728" marT="73152" marB="73152">
                    <a:solidFill>
                      <a:srgbClr val="D6D2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1915"/>
                          </a:solidFill>
                          <a:latin typeface="Roboto"/>
                          <a:ea typeface="Roboto"/>
                          <a:cs typeface="Roboto"/>
                        </a:rPr>
                        <a:t>Semua perusahaan dan site</a:t>
                      </a:r>
                    </a:p>
                  </a:txBody>
                  <a:tcPr anchor="ctr" marL="128016" marR="109728" marT="73152" marB="73152">
                    <a:solidFill>
                      <a:srgbClr val="D6D2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1915"/>
                          </a:solidFill>
                          <a:latin typeface="Roboto"/>
                          <a:ea typeface="Roboto"/>
                          <a:cs typeface="Roboto"/>
                        </a:rPr>
                        <a:t>Pekerjaan harian di lapangan</a:t>
                      </a:r>
                    </a:p>
                  </a:txBody>
                  <a:tcPr anchor="ctr" marL="128016" marR="109728" marT="73152" marB="73152">
                    <a:solidFill>
                      <a:srgbClr val="D6D2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Pengenalan  ·  Inspeksi 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5  /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Beranda setelah masuk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Home after sign-in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532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Angka hari ini: unit aktif, inspeksi, temuan, dan yang menunggu persetujuan.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Daftar inspeksi terbaru, dengan status Terkirim atau Disetujui.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Menu mengikuti peran. Bahasa EN / ID ada di pojok atas.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Tombol Mulai inspeksi membuka form yang sama dengan Inspeksi Baru.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326115"/>
            <a:ext cx="5394960" cy="3111026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399267"/>
            <a:ext cx="5248656" cy="29647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Pengenalan  ·  Inspeksi 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6  /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Mulai inspeksi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Choose the unit, the type, and the hour meter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532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Pilih </a:t>
            </a: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unit dan tipe dulu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. Checklist baru muncul setelah keduanya terisi.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Isi </a:t>
            </a: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KM / HM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 sesuai panel kendaraan.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VIN dan konfigurasi penggerak terisi dari data unit.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Ganti site, unit, atau tipe saat form sudah diisi: jawaban dibuang, KM tetap.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326115"/>
            <a:ext cx="5394960" cy="3111026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399267"/>
            <a:ext cx="5248656" cy="29647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Pengenalan  ·  Inspeksi 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7  /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Isi checklist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Every item starts OK; change only what is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532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Setiap item dimulai </a:t>
            </a: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OK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. Ubah hanya yang bermasalah.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Catatan dan foto boleh diisi, termasuk pada item yang tetap OK.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Pilihan status mengikuti item: Not OK, Korosi, Longgar, dan sejenisnya.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Item yang dikecualikan pada tipe inspeksi tidak muncul.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326115"/>
            <a:ext cx="5394960" cy="3111026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399267"/>
            <a:ext cx="5248656" cy="29647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Pengenalan  ·  Inspeksi 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8  /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Foto bukti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A stamped photo stays with the checklist item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755648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Jepret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514807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Kamera di aplikasi. Peramban atau ponsel harus mengizinkan kamera.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27632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755648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Cap bukti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048256"/>
            <a:ext cx="514807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Tanggal, jam, GPS bila tersedia, lokasi, dan nama pemeriksa tertanam di foto.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76472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904488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Ukuran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197096"/>
            <a:ext cx="514807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Berkas dikompresi otomatis, paling besar 500 KB, lalu menempel di item.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776472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3904488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Masa simpan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197096"/>
            <a:ext cx="514807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Foto disimpan 90 hari. Catatan inspeksi tetap ada setelah berkas dibersihkan.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Pengenalan  ·  Inspeksi 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9  /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Draf, offline, dan Android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Save on the device, then sync when the network returns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Simpan progres</a:t>
            </a:r>
            <a:r>
              <a:rPr sz="16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 menyimpan draf di perangkat ini saja. Draf tidak naik ke server.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Draf hilang jika ganti peramban, hapus data situs, atau pindah ponsel.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Driver, mekanik, dan admin site</a:t>
            </a:r>
            <a:r>
              <a:rPr sz="16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 dapat mengantre inspeksi saat offline, lalu menekan Sinkron.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Admin perusahaan dan superadmin tetap bekerja saat tersambung.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Aplikasi Android memakai alur yang sama. PDF dari ponsel dibagikan lewat lembar berbagi Android.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Setelah </a:t>
            </a:r>
            <a:r>
              <a:rPr sz="16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Kirim</a:t>
            </a:r>
            <a:r>
              <a:rPr sz="16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, inspeksi tidak bisa diedit. Status berjalan dari Terkirim ke Disetujui atau Ditolak.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Pengenalan  ·  Inspeksi 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10  /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Persetujuan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A site admin approves or rejects the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532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Buka Laporan Inspeksi, pilih kiriman, tinjau item dan foto.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Setujui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 atau </a:t>
            </a: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Tolak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. Catatan admin bersifat opsional.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Tombol hanya muncul selagi status masih Terkirim.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Ekspor PDF ada di halaman yang sama, termasuk foto temuan.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326115"/>
            <a:ext cx="5394960" cy="3111026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399267"/>
            <a:ext cx="5248656" cy="29647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Pengenalan  ·  Inspeksi 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11  /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Laporan dan PDF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Filter the list, then export one inspection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755648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Laporan Inspeksi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514807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Filter unit, status, tanggal, dan pemeriksa. Admin site melihat seluruh site. Driver melihat miliknya.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27632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755648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Ekspor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048256"/>
            <a:ext cx="514807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Satu inspeksi menjadi berkas A4: ringkasan, tabel item, dan foto. Tautan membuka detail di aplikasi.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76472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904488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Ekspor 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197096"/>
            <a:ext cx="514807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Daftar yang sedang difilter dapat diunduh sebagai CSV untuk olah di spreadsheet.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776472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3904488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Inspeksi Saya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197096"/>
            <a:ext cx="514807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Driver, mekanik, dan admin site melihat kiriman mereka sendiri, terpisah dari laporan site.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Pengenalan  ·  Inspeksi 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12  /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Rekap kendaraan site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A daily matrix of which units were inspected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532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Hijau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 = diinspeksi, semua OK. </a:t>
            </a:r>
            <a:r>
              <a:rPr sz="1500" b="1">
                <a:solidFill>
                  <a:srgbClr val="231915"/>
                </a:solidFill>
                <a:latin typeface="Roboto"/>
                <a:ea typeface="Roboto"/>
                <a:cs typeface="Roboto"/>
              </a:rPr>
              <a:t>Merah</a:t>
            </a: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 = ada temuan. Abu = belum diinspeksi.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Beberapa inspeksi di hari yang sama mengikuti inspeksi terakhir. Sel merah jika ada temuan.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Ekspor CSV matriks dan CSV ringkasan untuk rentang tanggal yang dipilih.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Admin perusahaan memilih site di perusahaannya. Superadmin memilih site lebih dulu.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326115"/>
            <a:ext cx="5394960" cy="3111026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399267"/>
            <a:ext cx="5248656" cy="29647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Pengenalan  ·  Inspeksi 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13  /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Yang perlu diingat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Three limits worth stating before go-live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109728" cy="969264"/>
          </a:xfrm>
          <a:prstGeom prst="roundRect">
            <a:avLst>
              <a:gd name="adj" fmla="val 8000"/>
            </a:avLst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1572768"/>
            <a:ext cx="11064240" cy="969264"/>
          </a:xfrm>
          <a:prstGeom prst="rect">
            <a:avLst/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664208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Checklist mengikuti unit dan tipe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99339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Yang tampil adalah item kategori kendaraan, dikurangi item yang dikecualikan pada tipe.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88336"/>
            <a:ext cx="109728" cy="969264"/>
          </a:xfrm>
          <a:prstGeom prst="roundRect">
            <a:avLst>
              <a:gd name="adj" fmla="val 8000"/>
            </a:avLst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" y="2688336"/>
            <a:ext cx="11064240" cy="969264"/>
          </a:xfrm>
          <a:prstGeom prst="rect">
            <a:avLst/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779776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Draf hanya di perangkat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1089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Simpan progres tidak naik ke server. Ganti ponsel atau hapus data situs berarti draf hilang.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03904"/>
            <a:ext cx="109728" cy="969264"/>
          </a:xfrm>
          <a:prstGeom prst="roundRect">
            <a:avLst>
              <a:gd name="adj" fmla="val 8000"/>
            </a:avLst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" y="3803904"/>
            <a:ext cx="11064240" cy="969264"/>
          </a:xfrm>
          <a:prstGeom prst="rect">
            <a:avLst/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895344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Foto 90 hari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22452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Berkas foto dapat dibersihkan setelah masa simpan. Baris inspeksi dan catatannya tetap ada.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919472"/>
            <a:ext cx="109728" cy="969264"/>
          </a:xfrm>
          <a:prstGeom prst="roundRect">
            <a:avLst>
              <a:gd name="adj" fmla="val 8000"/>
            </a:avLst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" y="4919472"/>
            <a:ext cx="11064240" cy="969264"/>
          </a:xfrm>
          <a:prstGeom prst="rect">
            <a:avLst/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5010912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Setelah kirim, selesai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534009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Isian tidak disunting. Koreksi dilakukan lewat inspeksi baru atau keputusan admin.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