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dengan identitas ITI; sebutkan bahwa ini pengenalan, bukan pelatihan teknis penuh.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Janji waktu 10–15 menit; foto dan persetujuan dibahas singkat, bukan klik demi klik.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bukti foto + jejak persetujuan, bukan sekadar centang kertas.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Mekanik = Driver. Admin Site tidak mengubah kategori/item/tipe inspeksi.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Jangan bagikan kata sandi produksi di sesi ini; demo hanya di slide terakhir.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gerbang unit + tipe. Jangan mulai isi checklist sebelum keduanya dipilih.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OK mempercepat walk-around; foto tetap boleh pada item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Torch = lampu terus-menerus, bukan kilat sekali. GPS boleh “tidak tersedia”.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Inspeksi Saya = kiriman server + draf lokal. Jangan andalkan draf sebagai arsip perusahaan.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Site = operasional harian. Jangan janji mereka bisa mengubah item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Tipe adalah daftar pengecualian, bukan daftar item mandiri.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Jangan overclaim arti warna di luar SOP manual; CSV untuk operasional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Tiga pesan yang harus tertinggal: exclude tipe, draf lokal, foto 90 hari.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Tegaskan slide ini latihan lokal. Tutup tanpa meninggalkan kata sandi di papan jika sesi hybrid.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9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49640" y="1417320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74936" y="1417320"/>
            <a:ext cx="822960" cy="822960"/>
          </a:xfrm>
          <a:prstGeom prst="ellipse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00232" y="1417320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2642616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74936" y="2642616"/>
            <a:ext cx="822960" cy="822960"/>
          </a:xfrm>
          <a:prstGeom prst="ellipse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00232" y="2642616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9640" y="3867912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74936" y="3867912"/>
            <a:ext cx="822960" cy="822960"/>
          </a:xfrm>
          <a:prstGeom prst="ellipse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00232" y="3867912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84048"/>
            <a:ext cx="397763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"/>
            <a:ext cx="2243937" cy="713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1965960"/>
            <a:ext cx="7680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6D2E9"/>
                </a:solidFill>
                <a:latin typeface="Poppins"/>
                <a:ea typeface="Poppins"/>
                <a:cs typeface="Poppins"/>
              </a:rPr>
              <a:t>PANDUAN PENGENALAN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04288"/>
            <a:ext cx="7863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Inspeksi DT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Checklist walk-around digital untuk dump truck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13632"/>
            <a:ext cx="1508760" cy="3175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D6D2E9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6D2E9"/>
                </a:solidFill>
                <a:latin typeface="Roboto"/>
                <a:ea typeface="Roboto"/>
                <a:cs typeface="Roboto"/>
              </a:rPr>
              <a:t>Versi aplikasi 1.8.0  ·  16 Sep 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6D2E9"/>
                </a:solidFill>
                <a:latin typeface="Roboto"/>
                <a:ea typeface="Roboto"/>
                <a:cs typeface="Roboto"/>
              </a:rPr>
              <a:t>Untuk semua peran  ·  ±10–15 menit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2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Agenda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73152" cy="1298448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82496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82496"/>
            <a:ext cx="4251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Apa itu Inspeksi DT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48256"/>
            <a:ext cx="4251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Checklist walk-around, foto bukti, persetujuan, rekap site.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481328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481328"/>
            <a:ext cx="73152" cy="1298448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82496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1682496"/>
            <a:ext cx="4251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Siapa yang memakai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2048256"/>
            <a:ext cx="4251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Lima peran: Superadmin sampai Driver dan Mekanik.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62656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962656"/>
            <a:ext cx="73152" cy="1298448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163824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63824"/>
            <a:ext cx="4251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Alur Driver / Mekanik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529584"/>
            <a:ext cx="4251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Unit dan tipe, checklist, foto, draf, kirim.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8192" y="2962656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08192" y="2962656"/>
            <a:ext cx="73152" cy="1298448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3163824"/>
            <a:ext cx="4251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Alur 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3529584"/>
            <a:ext cx="4251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Persetujuan site, master perusahaan, rekap.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443984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443984"/>
            <a:ext cx="73152" cy="1298448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464515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645152"/>
            <a:ext cx="4251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Foto bukti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10912"/>
            <a:ext cx="4251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Kamera in-app, cap GPS, batas 500 KB, masa simpan 90 hari.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3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Apa itu Inspeksi DT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440680" cy="1993392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36776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Walk-around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29384"/>
            <a:ext cx="51480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Checklist sesuai kategori kendaraan, dikurangi item yang dikecualikan pada tipe inspeksi.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08760"/>
            <a:ext cx="5440680" cy="1993392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636776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Foto bukti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929384"/>
            <a:ext cx="51480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Jepret di aplikasi. Cap waktu, GPS, dan nama pemeriksa tertanam di berkas.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03320"/>
            <a:ext cx="5440680" cy="1993392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831336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Persetujuan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123944"/>
            <a:ext cx="51480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Admin Site meninjau kiriman: Setujui atau Tolak. Setelah kirim, driver tidak mengedit.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703320"/>
            <a:ext cx="5440680" cy="1993392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831336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Rekap 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123944"/>
            <a:ext cx="51480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Matriks hijau / merah / abu per unit. Ekspor CSV untuk laporan site.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4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Siapa yang memakai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44752"/>
          <a:ext cx="11173968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4937760"/>
                <a:gridCol w="3767328"/>
              </a:tblGrid>
              <a:tr h="7391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Peran</a:t>
                      </a:r>
                    </a:p>
                  </a:txBody>
                  <a:tcPr anchor="ctr" marL="128016" marR="109728" marT="73152" marB="73152">
                    <a:solidFill>
                      <a:srgbClr val="2319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Fokus</a:t>
                      </a:r>
                    </a:p>
                  </a:txBody>
                  <a:tcPr anchor="ctr" marL="128016" marR="109728" marT="73152" marB="73152">
                    <a:solidFill>
                      <a:srgbClr val="2319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Tidak untuk</a:t>
                      </a:r>
                    </a:p>
                  </a:txBody>
                  <a:tcPr anchor="ctr" marL="128016" marR="109728" marT="73152" marB="73152">
                    <a:solidFill>
                      <a:srgbClr val="231915"/>
                    </a:solidFill>
                  </a:tcPr>
                </a:tc>
              </a:tr>
              <a:tr h="7391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1915"/>
                          </a:solidFill>
                          <a:latin typeface="Poppins"/>
                          <a:ea typeface="Poppins"/>
                          <a:cs typeface="Poppins"/>
                        </a:rPr>
                        <a:t>Superadmin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Semua menu, termasuk Perusahaan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—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1915"/>
                          </a:solidFill>
                          <a:latin typeface="Poppins"/>
                          <a:ea typeface="Poppins"/>
                          <a:cs typeface="Poppins"/>
                        </a:rPr>
                        <a:t>Admin Perusahaan</a:t>
                      </a:r>
                    </a:p>
                  </a:txBody>
                  <a:tcPr anchor="ctr" marL="128016" marR="109728" marT="73152" marB="73152">
                    <a:solidFill>
                      <a:srgbClr val="D6D2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Master checklist, tipe, site, rekap</a:t>
                      </a:r>
                    </a:p>
                  </a:txBody>
                  <a:tcPr anchor="ctr" marL="128016" marR="109728" marT="73152" marB="73152">
                    <a:solidFill>
                      <a:srgbClr val="D6D2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Akun Superadmin lain</a:t>
                      </a:r>
                    </a:p>
                  </a:txBody>
                  <a:tcPr anchor="ctr" marL="128016" marR="109728" marT="73152" marB="73152">
                    <a:solidFill>
                      <a:srgbClr val="D6D2E9"/>
                    </a:solidFill>
                  </a:tcPr>
                </a:tc>
              </a:tr>
              <a:tr h="7391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1915"/>
                          </a:solidFill>
                          <a:latin typeface="Poppins"/>
                          <a:ea typeface="Poppins"/>
                          <a:cs typeface="Poppins"/>
                        </a:rPr>
                        <a:t>Admin Site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Pengguna site, kendaraan, Setujui/Tolak, rekap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Master checklist perusahaan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1915"/>
                          </a:solidFill>
                          <a:latin typeface="Poppins"/>
                          <a:ea typeface="Poppins"/>
                          <a:cs typeface="Poppins"/>
                        </a:rPr>
                        <a:t>Driver</a:t>
                      </a:r>
                    </a:p>
                  </a:txBody>
                  <a:tcPr anchor="ctr" marL="128016" marR="109728" marT="73152" marB="73152">
                    <a:solidFill>
                      <a:srgbClr val="D6D2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Inspeksi Baru, Inspeksi Saya</a:t>
                      </a:r>
                    </a:p>
                  </a:txBody>
                  <a:tcPr anchor="ctr" marL="128016" marR="109728" marT="73152" marB="73152">
                    <a:solidFill>
                      <a:srgbClr val="D6D2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Data master, rekap, persetujuan</a:t>
                      </a:r>
                    </a:p>
                  </a:txBody>
                  <a:tcPr anchor="ctr" marL="128016" marR="109728" marT="73152" marB="73152">
                    <a:solidFill>
                      <a:srgbClr val="D6D2E9"/>
                    </a:solidFill>
                  </a:tcPr>
                </a:tc>
              </a:tr>
              <a:tr h="7391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1915"/>
                          </a:solidFill>
                          <a:latin typeface="Poppins"/>
                          <a:ea typeface="Poppins"/>
                          <a:cs typeface="Poppins"/>
                        </a:rPr>
                        <a:t>Mekanik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Hak sama dengan Driver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Sama dengan Driver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5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Masuk ke aplikasi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Pilih bahasa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EN / ID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 di layar masuk.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Akun dikunci setelah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5 percobaan gagal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 — tunggu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15 menit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Tidak ada tautan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lupa kata sandi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. Minta admin mengubahnya di Pengguna &amp; Peran.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Minimum kata sandi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6 karakter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. Kosongkan field saat ubah pengguna jika tidak diganti.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Setelah masuk, menu mengikuti peran akun.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16387"/>
            <a:ext cx="5394960" cy="311102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289539"/>
            <a:ext cx="5248656" cy="29647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6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Driver: mulai inspeksi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5532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Pilih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unit dan tipe inspeksi dulu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. Checklist baru dimuat setelah keduanya terisi.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Isi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KM / HM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 sesuai panel kendaraan.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Ganti site, unit, atau tipe saat form sudah diisi: konfirmasi dulu — jawaban dibuang, KM tetap.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Driver/Mekanik, VIN, dan konfigurasi penggerak terisi otomatis.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16387"/>
            <a:ext cx="5394960" cy="311102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inspeksi-ba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289539"/>
            <a:ext cx="5248656" cy="29647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7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Driver: isi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5532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Setiap item dimulai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OK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. Ubah hanya yang bermasalah.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Catatan dan foto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opsional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 — termasuk pada item yang tetap OK.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Lampu kilat (torch)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jika kamera mendukung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. Banyak komputer desktop tidak punya tombol ini.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Unggah berkas dari galeri tidak memakai lampu kilat.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Kategori yang seluruh itemnya dikecualikan pada tipe tidak muncul.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16387"/>
            <a:ext cx="5394960" cy="311102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check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289539"/>
            <a:ext cx="5248656" cy="29647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8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Driver: foto bukti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09344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Jepret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01952"/>
            <a:ext cx="514807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Buka kamera in-app. Izinkan akses kamera di peramban saat diminta.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81328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609344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Ulangi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901952"/>
            <a:ext cx="514807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Ambil ulang jika buram atau salah sudut. Pratinjau tetap hidup.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94176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822192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Gunakan foto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114800"/>
            <a:ext cx="514807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Kompresi otomatis, maksimum 500 KB, lalu tertanam di item.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694176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822192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Cap bukti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114800"/>
            <a:ext cx="514807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Tanggal/waktu, GPS atau “GPS tidak tersedia”, lokasi, nama pemeriksa.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9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Driver: draf dan kirim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5532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Simpan progres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 menyimpan draf di perangkat ini saja — bukan di server.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Daftar draf: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Inspeksi Baru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 dan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Inspeksi Saya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. Lanjutkan atau Hapus draf.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Draf hilang jika ganti peramban, hapus data situs, atau pindah ponsel.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Setelah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Kirim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, inspeksi tidak bisa diedit. Status: Terkirim → Disetujui / Ditolak.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16387"/>
            <a:ext cx="5394960" cy="311102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ber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289539"/>
            <a:ext cx="5248656" cy="29647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10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Admin Site: setujui atau tolak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5532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Buka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Laporan Inspeksi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, pilih kiriman, tinjau checklist dan foto.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Setujui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 atau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Tolak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. Keputusan ini menutup siklus driver.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Kelola akun Driver dan Mekanik untuk site sendiri — bukan Admin Perusahaan.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Kelola daftar kendaraan site. Master checklist (kategori/item/tipe) milik perusahaan.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16387"/>
            <a:ext cx="5394960" cy="311102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-detail-persetuju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289539"/>
            <a:ext cx="5248656" cy="29647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11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Admin Perusahaan: checklist dan tipe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5532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Urutan master: </a:t>
            </a:r>
            <a:r>
              <a:rPr sz="14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item → kategori → tipe</a:t>
            </a:r>
            <a:r>
              <a:rPr sz="14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. Kategori kendaraan memasang kumpulan item.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Kecualikan item</a:t>
            </a:r>
            <a:r>
              <a:rPr sz="14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 pada tipe: dikurangi dari kumpulan itu. Daftar kosong = checklist penuh.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Kategori yang seluruh itemnya dikecualikan tidak tampil di form.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Buat Admin Site, Driver, dan Mekanik. Tidak membuat Superadmin atau Admin Perusahaan lain.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16387"/>
            <a:ext cx="5394960" cy="311102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1-tipe-kecualik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289539"/>
            <a:ext cx="5248656" cy="29647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12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Rekap kendaraan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5532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Matriks Harian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: kisi unit × tanggal. Hijau = Diinspeksi, semua OK; merah = Ada temuan; abu = Belum diinspeksi.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Klik sel untuk membuka detail. Beberapa inspeksi di hari yang sama: sel mengikuti inspeksi terakhir; merah jika ada temuan.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Ekspor CSV Matriks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 dan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Ekspor CSV Ringkasan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. Laporan Inspeksi punya Ekspor CSV mengikuti filter.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Admin perusahaan memilih Site di dalam perusahaannya. Superadmin wajib pilih 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16387"/>
            <a:ext cx="5394960" cy="311102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-rek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289539"/>
            <a:ext cx="5248656" cy="29647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13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Yang perlu diingat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09728" cy="987552"/>
          </a:xfrm>
          <a:prstGeom prst="roundRect">
            <a:avLst>
              <a:gd name="adj" fmla="val 8000"/>
            </a:avLst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417320"/>
            <a:ext cx="11064240" cy="987552"/>
          </a:xfrm>
          <a:prstGeom prst="rect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27048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Checklist = kategori kendaraan minus exclude tipe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74520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Form hanya memuat item kategori unit, dikurangi Kecualikan item pada tipe yang dipilih.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60320"/>
            <a:ext cx="109728" cy="987552"/>
          </a:xfrm>
          <a:prstGeom prst="roundRect">
            <a:avLst>
              <a:gd name="adj" fmla="val 8000"/>
            </a:avLst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" y="2560320"/>
            <a:ext cx="11064240" cy="987552"/>
          </a:xfrm>
          <a:prstGeom prst="rect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670048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Draf hanya di perangkat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017520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Simpan progres tidak naik ke server. Ganti HP atau hapus data situs = draf hilang.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03320"/>
            <a:ext cx="109728" cy="987552"/>
          </a:xfrm>
          <a:prstGeom prst="roundRect">
            <a:avLst>
              <a:gd name="adj" fmla="val 8000"/>
            </a:avLst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" y="3703320"/>
            <a:ext cx="11064240" cy="987552"/>
          </a:xfrm>
          <a:prstGeom prst="rect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13048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Foto 90 hari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160520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Masa simpan default 90 hari. Data inspeksi tetap ada; berkas foto bisa dibersihkan.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46320"/>
            <a:ext cx="109728" cy="987552"/>
          </a:xfrm>
          <a:prstGeom prst="roundRect">
            <a:avLst>
              <a:gd name="adj" fmla="val 8000"/>
            </a:avLst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" y="4846320"/>
            <a:ext cx="11064240" cy="987552"/>
          </a:xfrm>
          <a:prstGeom prst="rect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956048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Setelah kirim, selesai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5303520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Tidak ada sunting kiriman. Koreksi lewat inspeksi baru atau keputusan admin.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14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Latihan lokal saja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1173968" cy="658368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53619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A3B2A"/>
                </a:solidFill>
                <a:latin typeface="Poppins"/>
                <a:ea typeface="Poppins"/>
                <a:cs typeface="Poppins"/>
              </a:rPr>
              <a:t>Bukan SOP produksi. Akun di bawah hanya untuk lingkungan demo/latihan. Jangan dipakai di server live.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286000"/>
          <a:ext cx="11173968" cy="288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4937760"/>
                <a:gridCol w="3310128"/>
              </a:tblGrid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Peran</a:t>
                      </a:r>
                    </a:p>
                  </a:txBody>
                  <a:tcPr anchor="ctr" marL="128016" marR="109728" marT="73152" marB="73152">
                    <a:solidFill>
                      <a:srgbClr val="2319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Email</a:t>
                      </a:r>
                    </a:p>
                  </a:txBody>
                  <a:tcPr anchor="ctr" marL="128016" marR="109728" marT="73152" marB="73152">
                    <a:solidFill>
                      <a:srgbClr val="2319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Kata sandi (demo)</a:t>
                      </a:r>
                    </a:p>
                  </a:txBody>
                  <a:tcPr anchor="ctr" marL="128016" marR="109728" marT="73152" marB="73152">
                    <a:solidFill>
                      <a:srgbClr val="231915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1915"/>
                          </a:solidFill>
                          <a:latin typeface="Poppins"/>
                          <a:ea typeface="Poppins"/>
                          <a:cs typeface="Poppins"/>
                        </a:rPr>
                        <a:t>Driver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driver@iti.demo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Driver@1234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1915"/>
                          </a:solidFill>
                          <a:latin typeface="Poppins"/>
                          <a:ea typeface="Poppins"/>
                          <a:cs typeface="Poppins"/>
                        </a:rPr>
                        <a:t>Admin Site</a:t>
                      </a:r>
                    </a:p>
                  </a:txBody>
                  <a:tcPr anchor="ctr" marL="128016" marR="109728" marT="73152" marB="73152">
                    <a:solidFill>
                      <a:srgbClr val="D6D2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admin@iti.demo</a:t>
                      </a:r>
                    </a:p>
                  </a:txBody>
                  <a:tcPr anchor="ctr" marL="128016" marR="109728" marT="73152" marB="73152">
                    <a:solidFill>
                      <a:srgbClr val="D6D2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Admin@1234</a:t>
                      </a:r>
                    </a:p>
                  </a:txBody>
                  <a:tcPr anchor="ctr" marL="128016" marR="109728" marT="73152" marB="73152">
                    <a:solidFill>
                      <a:srgbClr val="D6D2E9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1915"/>
                          </a:solidFill>
                          <a:latin typeface="Poppins"/>
                          <a:ea typeface="Poppins"/>
                          <a:cs typeface="Poppins"/>
                        </a:rPr>
                        <a:t>Admin Perusahaan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company.admin@iti.demo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Admin@1234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349240"/>
            <a:ext cx="111739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Superadmin tidak memakai panel akun demo (dibuat dari konfigurasi server). Mekanik seed mechanic@iti.demo tidak tampil di panel Akun demo. Frontend latihan: localhost:3000.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